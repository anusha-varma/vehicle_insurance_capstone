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3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3200400" cy="3200400"/>
          </a:xfrm>
          <a:prstGeom prst="ellipse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828800"/>
            <a:ext cx="1371600" cy="13716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554480"/>
            <a:ext cx="32004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914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DriveSure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731520" y="1737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Management Platform</a:t>
            </a:r>
            <a:endParaRPr lang="en-US" sz="1800" dirty="0"/>
          </a:p>
        </p:txBody>
      </p:sp>
      <p:sp>
        <p:nvSpPr>
          <p:cNvPr id="50" name="Text WhatIsInsurance"/>
          <p:cNvSpPr/>
          <p:nvPr/>
        </p:nvSpPr>
        <p:spPr>
          <a:xfrm>
            <a:off x="731520" y="2858000"/>
            <a:ext cx="530352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 deserves protection — not just fuel. Our insurance shields you against accidents, theft &amp; disasters. Third-party cover is mandatory under the Motor Vehicles Act, 1988. Policies from Rs. 2094/year with cashless repairs, hassle-free claims &amp; 24x7 support.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3200400" cy="411480"/>
          </a:xfrm>
          <a:prstGeom prst="roundRect">
            <a:avLst>
              <a:gd name="adj" fmla="val 48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Digital Insurance System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246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315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423160" y="3246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242316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0" y="3246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11480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Coverage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Leadership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64592" cy="44577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00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vehicle insurance operations face critical inefficiencies that slow service delivery and frustrate customers: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today’s fast-paced world, car insurance is no longer a luxury — it is a legal and financial necessity. Yet traditional insurers continue to rely on paper-based processes, manual assessments, and siloed systems that leave customers frustrated and under-served. The result: delayed claims, opaque pricing, and a broken experience at every touchpoint. DriveSure was built to fix exactly that.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Policy Processing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1828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workflows lead to delays, errors, and high operational costs across policy issuance and renewals.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6060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6060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432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Claim Approvals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14400" y="2971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reviews take days or weeks due to manual routing, document chasing, and lack of real-time status tracking.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65760" y="37490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74904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Customer Transparency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14400" y="4114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no visibility into policy status, claim progress, or premium calculation logic.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800600" y="14630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14630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6002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Premium Calculations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349240" y="1828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risk assessments are inconsistent, prone to bias, and difficult to audit or standardize.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800600" y="26060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800600" y="260604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7432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4924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Departmental Systems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349240" y="2971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 across sales, claims, and admin result in data silos and poor coordination.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DriveSure  |  Vehicle Insurance Management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</a:ln>
        </p:spPr>
      </p:sp>
      <p:sp>
        <p:nvSpPr>
          <p:cNvPr id="3" name="GB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</p:sp>
      <p:sp>
        <p:nvSpPr>
          <p:cNvPr id="4" name="TT"/>
          <p:cNvSpPr/>
          <p:nvPr/>
        </p:nvSpPr>
        <p:spPr>
          <a:xfrm>
            <a:off x="274320" y="45720"/>
            <a:ext cx="58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Proposed Solution</a:t>
            </a:r>
          </a:p>
        </p:txBody>
      </p:sp>
      <p:sp>
        <p:nvSpPr>
          <p:cNvPr id="5" name="ST"/>
          <p:cNvSpPr/>
          <p:nvPr/>
        </p:nvSpPr>
        <p:spPr>
          <a:xfrm>
            <a:off x="274320" y="594360"/>
            <a:ext cx="86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C040"/>
                </a:solidFill>
                <a:latin typeface="Calibri" pitchFamily="34" charset="0"/>
              </a:rPr>
              <a:t>DriveSure — End-to-End Digital Insurance Platform</a:t>
            </a:r>
          </a:p>
        </p:txBody>
      </p:sp>
      <p:sp>
        <p:nvSpPr>
          <p:cNvPr id="10" name="C1bg"/>
          <p:cNvSpPr/>
          <p:nvPr/>
        </p:nvSpPr>
        <p:spPr>
          <a:xfrm>
            <a:off x="91440" y="1020000"/>
            <a:ext cx="4389060" cy="62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11" name="C1br"/>
          <p:cNvSpPr/>
          <p:nvPr/>
        </p:nvSpPr>
        <p:spPr>
          <a:xfrm>
            <a:off x="91440" y="1020000"/>
            <a:ext cx="54864" cy="6200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</p:sp>
      <p:sp>
        <p:nvSpPr>
          <p:cNvPr id="12" name="C1tx"/>
          <p:cNvSpPr/>
          <p:nvPr/>
        </p:nvSpPr>
        <p:spPr>
          <a:xfrm>
            <a:off x="274320" y="1033000"/>
            <a:ext cx="4114740" cy="60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2A5F5"/>
                </a:solidFill>
                <a:latin typeface="Georgia" pitchFamily="34" charset="0"/>
              </a:rPr>
              <a:t>01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Digital Policy Management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ADBDD8"/>
                </a:solidFill>
                <a:latin typeface="Calibri" pitchFamily="34" charset="0"/>
              </a:rPr>
              <a:t>Customers can apply for vehicle insurance online with document upload and instant tracking.</a:t>
            </a:r>
          </a:p>
        </p:txBody>
      </p:sp>
      <p:sp>
        <p:nvSpPr>
          <p:cNvPr id="20" name="C2bg"/>
          <p:cNvSpPr/>
          <p:nvPr/>
        </p:nvSpPr>
        <p:spPr>
          <a:xfrm>
            <a:off x="91440" y="1735000"/>
            <a:ext cx="4389060" cy="62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21" name="C2br"/>
          <p:cNvSpPr/>
          <p:nvPr/>
        </p:nvSpPr>
        <p:spPr>
          <a:xfrm>
            <a:off x="91440" y="1735000"/>
            <a:ext cx="54864" cy="6200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</a:ln>
        </p:spPr>
      </p:sp>
      <p:sp>
        <p:nvSpPr>
          <p:cNvPr id="22" name="C2tx"/>
          <p:cNvSpPr/>
          <p:nvPr/>
        </p:nvSpPr>
        <p:spPr>
          <a:xfrm>
            <a:off x="274320" y="1748000"/>
            <a:ext cx="4114740" cy="60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6BB6A"/>
                </a:solidFill>
                <a:latin typeface="Georgia" pitchFamily="34" charset="0"/>
              </a:rPr>
              <a:t>02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Risk-Based Premium Calculation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ADBDD8"/>
                </a:solidFill>
                <a:latin typeface="Calibri" pitchFamily="34" charset="0"/>
              </a:rPr>
              <a:t>Premium is calculated automatically using vehicle age, vehicle type, coverage amount, and risk score.</a:t>
            </a:r>
          </a:p>
        </p:txBody>
      </p:sp>
      <p:sp>
        <p:nvSpPr>
          <p:cNvPr id="30" name="C3bg"/>
          <p:cNvSpPr/>
          <p:nvPr/>
        </p:nvSpPr>
        <p:spPr>
          <a:xfrm>
            <a:off x="91440" y="2450000"/>
            <a:ext cx="4389060" cy="62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31" name="C3br"/>
          <p:cNvSpPr/>
          <p:nvPr/>
        </p:nvSpPr>
        <p:spPr>
          <a:xfrm>
            <a:off x="91440" y="2450000"/>
            <a:ext cx="54864" cy="6200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</a:ln>
        </p:spPr>
      </p:sp>
      <p:sp>
        <p:nvSpPr>
          <p:cNvPr id="32" name="C3tx"/>
          <p:cNvSpPr/>
          <p:nvPr/>
        </p:nvSpPr>
        <p:spPr>
          <a:xfrm>
            <a:off x="274320" y="2463000"/>
            <a:ext cx="4114740" cy="60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A726"/>
                </a:solidFill>
                <a:latin typeface="Georgia" pitchFamily="34" charset="0"/>
              </a:rPr>
              <a:t>03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Role-Based Workflow System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ADBDD8"/>
                </a:solidFill>
                <a:latin typeface="Calibri" pitchFamily="34" charset="0"/>
              </a:rPr>
              <a:t>Separates responsibilities between Admin, Underwriter, Claim Officer, and Customer for better process control.</a:t>
            </a:r>
          </a:p>
        </p:txBody>
      </p:sp>
      <p:sp>
        <p:nvSpPr>
          <p:cNvPr id="40" name="C4bg"/>
          <p:cNvSpPr/>
          <p:nvPr/>
        </p:nvSpPr>
        <p:spPr>
          <a:xfrm>
            <a:off x="91440" y="3165000"/>
            <a:ext cx="4389060" cy="62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41" name="C4br"/>
          <p:cNvSpPr/>
          <p:nvPr/>
        </p:nvSpPr>
        <p:spPr>
          <a:xfrm>
            <a:off x="91440" y="3165000"/>
            <a:ext cx="54864" cy="620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</p:sp>
      <p:sp>
        <p:nvSpPr>
          <p:cNvPr id="42" name="C4tx"/>
          <p:cNvSpPr/>
          <p:nvPr/>
        </p:nvSpPr>
        <p:spPr>
          <a:xfrm>
            <a:off x="274320" y="3178000"/>
            <a:ext cx="4114740" cy="60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Georgia" pitchFamily="34" charset="0"/>
              </a:rPr>
              <a:t>04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Automated Policy Approval Process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ADBDD8"/>
                </a:solidFill>
                <a:latin typeface="Calibri" pitchFamily="34" charset="0"/>
              </a:rPr>
              <a:t>Underwriters review applications digitally and approve or reject policies through the platform.</a:t>
            </a:r>
          </a:p>
        </p:txBody>
      </p:sp>
      <p:sp>
        <p:nvSpPr>
          <p:cNvPr id="50" name="C5bg"/>
          <p:cNvSpPr/>
          <p:nvPr/>
        </p:nvSpPr>
        <p:spPr>
          <a:xfrm>
            <a:off x="4663500" y="1020000"/>
            <a:ext cx="4389060" cy="62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51" name="C5br"/>
          <p:cNvSpPr/>
          <p:nvPr/>
        </p:nvSpPr>
        <p:spPr>
          <a:xfrm>
            <a:off x="4663500" y="1020000"/>
            <a:ext cx="54864" cy="6200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</a:ln>
        </p:spPr>
      </p:sp>
      <p:sp>
        <p:nvSpPr>
          <p:cNvPr id="52" name="C5tx"/>
          <p:cNvSpPr/>
          <p:nvPr/>
        </p:nvSpPr>
        <p:spPr>
          <a:xfrm>
            <a:off x="4846380" y="1033000"/>
            <a:ext cx="4114740" cy="60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B47BC"/>
                </a:solidFill>
                <a:latin typeface="Georgia" pitchFamily="34" charset="0"/>
              </a:rPr>
              <a:t>05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Online Claim Management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ADBDD8"/>
                </a:solidFill>
                <a:latin typeface="Calibri" pitchFamily="34" charset="0"/>
              </a:rPr>
              <a:t>Customers submit claims with supporting documents; claim officers review and approve them efficiently.</a:t>
            </a:r>
          </a:p>
        </p:txBody>
      </p:sp>
      <p:sp>
        <p:nvSpPr>
          <p:cNvPr id="60" name="C6bg"/>
          <p:cNvSpPr/>
          <p:nvPr/>
        </p:nvSpPr>
        <p:spPr>
          <a:xfrm>
            <a:off x="4663500" y="1735000"/>
            <a:ext cx="4389060" cy="62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61" name="C6br"/>
          <p:cNvSpPr/>
          <p:nvPr/>
        </p:nvSpPr>
        <p:spPr>
          <a:xfrm>
            <a:off x="4663500" y="1735000"/>
            <a:ext cx="54864" cy="62000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</a:ln>
        </p:spPr>
      </p:sp>
      <p:sp>
        <p:nvSpPr>
          <p:cNvPr id="62" name="C6tx"/>
          <p:cNvSpPr/>
          <p:nvPr/>
        </p:nvSpPr>
        <p:spPr>
          <a:xfrm>
            <a:off x="4846380" y="1748000"/>
            <a:ext cx="4114740" cy="60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C6DA"/>
                </a:solidFill>
                <a:latin typeface="Georgia" pitchFamily="34" charset="0"/>
              </a:rPr>
              <a:t>06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Real-Time Tracking and Transparency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ADBDD8"/>
                </a:solidFill>
                <a:latin typeface="Calibri" pitchFamily="34" charset="0"/>
              </a:rPr>
              <a:t>Customers can track policy status, payment status, and claim progress directly from their dashboard.</a:t>
            </a:r>
          </a:p>
        </p:txBody>
      </p:sp>
      <p:sp>
        <p:nvSpPr>
          <p:cNvPr id="70" name="C7bg"/>
          <p:cNvSpPr/>
          <p:nvPr/>
        </p:nvSpPr>
        <p:spPr>
          <a:xfrm>
            <a:off x="4663500" y="2450000"/>
            <a:ext cx="4389060" cy="620000"/>
          </a:xfrm>
          <a:prstGeom prst="rect">
            <a:avLst/>
          </a:prstGeom>
          <a:solidFill>
            <a:srgbClr val="1A2F5A"/>
          </a:solidFill>
          <a:ln w="6350">
            <a:solidFill>
              <a:srgbClr val="2A4070"/>
            </a:solidFill>
          </a:ln>
        </p:spPr>
      </p:sp>
      <p:sp>
        <p:nvSpPr>
          <p:cNvPr id="71" name="C7br"/>
          <p:cNvSpPr/>
          <p:nvPr/>
        </p:nvSpPr>
        <p:spPr>
          <a:xfrm>
            <a:off x="4663500" y="2450000"/>
            <a:ext cx="54864" cy="620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</p:sp>
      <p:sp>
        <p:nvSpPr>
          <p:cNvPr id="72" name="C7tx"/>
          <p:cNvSpPr/>
          <p:nvPr/>
        </p:nvSpPr>
        <p:spPr>
          <a:xfrm>
            <a:off x="4846380" y="2463000"/>
            <a:ext cx="4114740" cy="60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</a:rPr>
              <a:t>07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Admin System Management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ADBDD8"/>
                </a:solidFill>
                <a:latin typeface="Calibri" pitchFamily="34" charset="0"/>
              </a:rPr>
              <a:t>Admin manages the platform — creating policies, managing users (underwriters and claim officers), and monitoring revenue and commission reports.</a:t>
            </a:r>
          </a:p>
        </p:txBody>
      </p:sp>
      <p:sp>
        <p:nvSpPr>
          <p:cNvPr id="90" name="F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</p:sp>
      <p:sp>
        <p:nvSpPr>
          <p:cNvPr id="91" name="FTx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</a:rPr>
              <a:t>DriveSure  |  Vehicle Insurance Management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6858000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Processing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Angular (Role-Based Dashboards)   |   Authentication &amp; Authorization   |   Responsive UI   |   Real-Time Notifications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DriveSure  |  Vehicle Insurance Management Platform</a:t>
            </a:r>
            <a:endParaRPr lang="en-US" sz="900" dirty="0"/>
          </a:p>
        </p:txBody>
      </p:sp>
      <p:sp>
        <p:nvSpPr>
          <p:cNvPr id="67" name="Shape 2">
            <a:extLst>
              <a:ext uri="{FF2B5EF4-FFF2-40B4-BE49-F238E27FC236}">
                <a16:creationId xmlns:a16="http://schemas.microsoft.com/office/drawing/2014/main" id="{D19C4758-9187-E4D8-70E1-9A7C8A1BB000}"/>
              </a:ext>
            </a:extLst>
          </p:cNvPr>
          <p:cNvSpPr/>
          <p:nvPr/>
        </p:nvSpPr>
        <p:spPr>
          <a:xfrm>
            <a:off x="2621866" y="1163398"/>
            <a:ext cx="329184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86408288-8929-8990-BE92-A1053F7FC106}"/>
              </a:ext>
            </a:extLst>
          </p:cNvPr>
          <p:cNvSpPr/>
          <p:nvPr/>
        </p:nvSpPr>
        <p:spPr>
          <a:xfrm>
            <a:off x="2621866" y="1126822"/>
            <a:ext cx="32918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69" name="Image 0" descr="preencoded.png">
            <a:extLst>
              <a:ext uri="{FF2B5EF4-FFF2-40B4-BE49-F238E27FC236}">
                <a16:creationId xmlns:a16="http://schemas.microsoft.com/office/drawing/2014/main" id="{828536D7-550A-74E2-C5C9-F7AF89980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003" y="1300558"/>
            <a:ext cx="822960" cy="822960"/>
          </a:xfrm>
          <a:prstGeom prst="rect">
            <a:avLst/>
          </a:prstGeom>
        </p:spPr>
      </p:pic>
      <p:sp>
        <p:nvSpPr>
          <p:cNvPr id="70" name="Text 4">
            <a:extLst>
              <a:ext uri="{FF2B5EF4-FFF2-40B4-BE49-F238E27FC236}">
                <a16:creationId xmlns:a16="http://schemas.microsoft.com/office/drawing/2014/main" id="{DEEAA28C-B4AE-DDA9-6731-5F8230B60023}"/>
              </a:ext>
            </a:extLst>
          </p:cNvPr>
          <p:cNvSpPr/>
          <p:nvPr/>
        </p:nvSpPr>
        <p:spPr>
          <a:xfrm>
            <a:off x="2922563" y="216923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DriveSure</a:t>
            </a:r>
            <a:endParaRPr lang="en-US" sz="1400" dirty="0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89EDA220-BB53-255E-EFE7-1C2F8053765A}"/>
              </a:ext>
            </a:extLst>
          </p:cNvPr>
          <p:cNvSpPr/>
          <p:nvPr/>
        </p:nvSpPr>
        <p:spPr>
          <a:xfrm>
            <a:off x="2922563" y="253499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Platform</a:t>
            </a:r>
            <a:endParaRPr lang="en-US" sz="1000" dirty="0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879956B8-BE37-A04D-66F4-097BFA06C686}"/>
              </a:ext>
            </a:extLst>
          </p:cNvPr>
          <p:cNvSpPr/>
          <p:nvPr/>
        </p:nvSpPr>
        <p:spPr>
          <a:xfrm>
            <a:off x="274320" y="1508735"/>
            <a:ext cx="1920240" cy="112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3" name="Shape 7">
            <a:extLst>
              <a:ext uri="{FF2B5EF4-FFF2-40B4-BE49-F238E27FC236}">
                <a16:creationId xmlns:a16="http://schemas.microsoft.com/office/drawing/2014/main" id="{A02B11D1-61A1-668C-0E83-9EE23E11389A}"/>
              </a:ext>
            </a:extLst>
          </p:cNvPr>
          <p:cNvSpPr/>
          <p:nvPr/>
        </p:nvSpPr>
        <p:spPr>
          <a:xfrm>
            <a:off x="274320" y="1508735"/>
            <a:ext cx="192024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4" name="Image 1" descr="preencoded.png">
            <a:extLst>
              <a:ext uri="{FF2B5EF4-FFF2-40B4-BE49-F238E27FC236}">
                <a16:creationId xmlns:a16="http://schemas.microsoft.com/office/drawing/2014/main" id="{E6A8FC84-2E33-2D82-2D7E-F12402FC3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691615"/>
            <a:ext cx="502920" cy="502920"/>
          </a:xfrm>
          <a:prstGeom prst="rect">
            <a:avLst/>
          </a:prstGeom>
        </p:spPr>
      </p:pic>
      <p:sp>
        <p:nvSpPr>
          <p:cNvPr id="75" name="Text 8">
            <a:extLst>
              <a:ext uri="{FF2B5EF4-FFF2-40B4-BE49-F238E27FC236}">
                <a16:creationId xmlns:a16="http://schemas.microsoft.com/office/drawing/2014/main" id="{F18D8400-577D-8A38-9DF4-DB6F053B76D0}"/>
              </a:ext>
            </a:extLst>
          </p:cNvPr>
          <p:cNvSpPr/>
          <p:nvPr/>
        </p:nvSpPr>
        <p:spPr>
          <a:xfrm>
            <a:off x="274320" y="2258543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76" name="Text 9">
            <a:extLst>
              <a:ext uri="{FF2B5EF4-FFF2-40B4-BE49-F238E27FC236}">
                <a16:creationId xmlns:a16="http://schemas.microsoft.com/office/drawing/2014/main" id="{9E6F4AFC-281C-1BC7-E5EC-8F727D3C786D}"/>
              </a:ext>
            </a:extLst>
          </p:cNvPr>
          <p:cNvSpPr/>
          <p:nvPr/>
        </p:nvSpPr>
        <p:spPr>
          <a:xfrm>
            <a:off x="6348046" y="18597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Claims</a:t>
            </a:r>
            <a:endParaRPr lang="en-US" sz="900" dirty="0"/>
          </a:p>
        </p:txBody>
      </p:sp>
      <p:sp>
        <p:nvSpPr>
          <p:cNvPr id="77" name="Shape 10">
            <a:extLst>
              <a:ext uri="{FF2B5EF4-FFF2-40B4-BE49-F238E27FC236}">
                <a16:creationId xmlns:a16="http://schemas.microsoft.com/office/drawing/2014/main" id="{27925699-C1C8-838D-9B13-36273BA0A5C7}"/>
              </a:ext>
            </a:extLst>
          </p:cNvPr>
          <p:cNvSpPr/>
          <p:nvPr/>
        </p:nvSpPr>
        <p:spPr>
          <a:xfrm>
            <a:off x="6329758" y="822960"/>
            <a:ext cx="1920240" cy="9966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8" name="Shape 11">
            <a:extLst>
              <a:ext uri="{FF2B5EF4-FFF2-40B4-BE49-F238E27FC236}">
                <a16:creationId xmlns:a16="http://schemas.microsoft.com/office/drawing/2014/main" id="{3668CCEB-1DF3-1017-88C1-3E6953DC853B}"/>
              </a:ext>
            </a:extLst>
          </p:cNvPr>
          <p:cNvSpPr/>
          <p:nvPr/>
        </p:nvSpPr>
        <p:spPr>
          <a:xfrm>
            <a:off x="6329758" y="82296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9" name="Image 2" descr="preencoded.png">
            <a:extLst>
              <a:ext uri="{FF2B5EF4-FFF2-40B4-BE49-F238E27FC236}">
                <a16:creationId xmlns:a16="http://schemas.microsoft.com/office/drawing/2014/main" id="{3A1BE1D2-723E-468C-0E73-C0A7E7861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558" y="1005840"/>
            <a:ext cx="502920" cy="502920"/>
          </a:xfrm>
          <a:prstGeom prst="rect">
            <a:avLst/>
          </a:prstGeom>
        </p:spPr>
      </p:pic>
      <p:sp>
        <p:nvSpPr>
          <p:cNvPr id="80" name="Text 12">
            <a:extLst>
              <a:ext uri="{FF2B5EF4-FFF2-40B4-BE49-F238E27FC236}">
                <a16:creationId xmlns:a16="http://schemas.microsoft.com/office/drawing/2014/main" id="{7C46875B-0740-C786-D353-49A844F3C910}"/>
              </a:ext>
            </a:extLst>
          </p:cNvPr>
          <p:cNvSpPr/>
          <p:nvPr/>
        </p:nvSpPr>
        <p:spPr>
          <a:xfrm>
            <a:off x="6333275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81" name="Text 13">
            <a:extLst>
              <a:ext uri="{FF2B5EF4-FFF2-40B4-BE49-F238E27FC236}">
                <a16:creationId xmlns:a16="http://schemas.microsoft.com/office/drawing/2014/main" id="{F0A16D9F-13E1-1FFD-1DF3-6C6505CA8BC4}"/>
              </a:ext>
            </a:extLst>
          </p:cNvPr>
          <p:cNvSpPr/>
          <p:nvPr/>
        </p:nvSpPr>
        <p:spPr>
          <a:xfrm>
            <a:off x="6336792" y="1584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User Management</a:t>
            </a:r>
            <a:endParaRPr lang="en-US" sz="900" dirty="0"/>
          </a:p>
        </p:txBody>
      </p:sp>
      <p:sp>
        <p:nvSpPr>
          <p:cNvPr id="82" name="Shape 14">
            <a:extLst>
              <a:ext uri="{FF2B5EF4-FFF2-40B4-BE49-F238E27FC236}">
                <a16:creationId xmlns:a16="http://schemas.microsoft.com/office/drawing/2014/main" id="{98BBB48F-3A77-9084-71E9-0100702C5EAB}"/>
              </a:ext>
            </a:extLst>
          </p:cNvPr>
          <p:cNvSpPr/>
          <p:nvPr/>
        </p:nvSpPr>
        <p:spPr>
          <a:xfrm>
            <a:off x="4572000" y="2941912"/>
            <a:ext cx="1642403" cy="112205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Shape 15">
            <a:extLst>
              <a:ext uri="{FF2B5EF4-FFF2-40B4-BE49-F238E27FC236}">
                <a16:creationId xmlns:a16="http://schemas.microsoft.com/office/drawing/2014/main" id="{ABBB048C-B95C-5B9F-EC15-17CFBCDBFD8E}"/>
              </a:ext>
            </a:extLst>
          </p:cNvPr>
          <p:cNvSpPr/>
          <p:nvPr/>
        </p:nvSpPr>
        <p:spPr>
          <a:xfrm>
            <a:off x="4572000" y="2882993"/>
            <a:ext cx="1642403" cy="589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84" name="Image 3" descr="preencoded.png">
            <a:extLst>
              <a:ext uri="{FF2B5EF4-FFF2-40B4-BE49-F238E27FC236}">
                <a16:creationId xmlns:a16="http://schemas.microsoft.com/office/drawing/2014/main" id="{E17688CB-1EB1-B52A-1D7B-E26F6F8050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960732"/>
            <a:ext cx="502920" cy="502920"/>
          </a:xfrm>
          <a:prstGeom prst="rect">
            <a:avLst/>
          </a:prstGeom>
        </p:spPr>
      </p:pic>
      <p:sp>
        <p:nvSpPr>
          <p:cNvPr id="85" name="Text 16">
            <a:extLst>
              <a:ext uri="{FF2B5EF4-FFF2-40B4-BE49-F238E27FC236}">
                <a16:creationId xmlns:a16="http://schemas.microsoft.com/office/drawing/2014/main" id="{7F6D5813-FADA-7391-F1F5-1785F83B8674}"/>
              </a:ext>
            </a:extLst>
          </p:cNvPr>
          <p:cNvSpPr/>
          <p:nvPr/>
        </p:nvSpPr>
        <p:spPr>
          <a:xfrm>
            <a:off x="4572000" y="35276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Officer</a:t>
            </a:r>
            <a:endParaRPr lang="en-US" sz="1200" dirty="0"/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782AACBB-7189-A4A7-CF90-0D1449D6EE05}"/>
              </a:ext>
            </a:extLst>
          </p:cNvPr>
          <p:cNvSpPr/>
          <p:nvPr/>
        </p:nvSpPr>
        <p:spPr>
          <a:xfrm>
            <a:off x="4572000" y="38294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Processing</a:t>
            </a:r>
            <a:endParaRPr lang="en-US" sz="900" dirty="0"/>
          </a:p>
        </p:txBody>
      </p:sp>
      <p:sp>
        <p:nvSpPr>
          <p:cNvPr id="87" name="Shape 18">
            <a:extLst>
              <a:ext uri="{FF2B5EF4-FFF2-40B4-BE49-F238E27FC236}">
                <a16:creationId xmlns:a16="http://schemas.microsoft.com/office/drawing/2014/main" id="{3AC87369-11EE-0077-7EA5-9BE9B29AD9C9}"/>
              </a:ext>
            </a:extLst>
          </p:cNvPr>
          <p:cNvSpPr/>
          <p:nvPr/>
        </p:nvSpPr>
        <p:spPr>
          <a:xfrm>
            <a:off x="2212848" y="2154466"/>
            <a:ext cx="412535" cy="5835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8" name="Shape 19">
            <a:extLst>
              <a:ext uri="{FF2B5EF4-FFF2-40B4-BE49-F238E27FC236}">
                <a16:creationId xmlns:a16="http://schemas.microsoft.com/office/drawing/2014/main" id="{115A25B1-75D9-6B3F-5332-005E61AB8EB2}"/>
              </a:ext>
            </a:extLst>
          </p:cNvPr>
          <p:cNvSpPr/>
          <p:nvPr/>
        </p:nvSpPr>
        <p:spPr>
          <a:xfrm>
            <a:off x="5922675" y="1121898"/>
            <a:ext cx="421854" cy="4571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9" name="Shape 20">
            <a:extLst>
              <a:ext uri="{FF2B5EF4-FFF2-40B4-BE49-F238E27FC236}">
                <a16:creationId xmlns:a16="http://schemas.microsoft.com/office/drawing/2014/main" id="{5D1076EC-4125-C91C-75B1-FB3149A0D00E}"/>
              </a:ext>
            </a:extLst>
          </p:cNvPr>
          <p:cNvSpPr/>
          <p:nvPr/>
        </p:nvSpPr>
        <p:spPr>
          <a:xfrm flipV="1">
            <a:off x="4157002" y="3006451"/>
            <a:ext cx="414997" cy="457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0" name="UWCardBg">
            <a:extLst>
              <a:ext uri="{FF2B5EF4-FFF2-40B4-BE49-F238E27FC236}">
                <a16:creationId xmlns:a16="http://schemas.microsoft.com/office/drawing/2014/main" id="{2578F3C8-6A7E-A669-41C1-67D555B4547C}"/>
              </a:ext>
            </a:extLst>
          </p:cNvPr>
          <p:cNvSpPr/>
          <p:nvPr/>
        </p:nvSpPr>
        <p:spPr>
          <a:xfrm>
            <a:off x="6348046" y="1948164"/>
            <a:ext cx="1920240" cy="8936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1" name="UWAccentBar">
            <a:extLst>
              <a:ext uri="{FF2B5EF4-FFF2-40B4-BE49-F238E27FC236}">
                <a16:creationId xmlns:a16="http://schemas.microsoft.com/office/drawing/2014/main" id="{161EADFF-AC1A-9D6E-A56B-B05858E841B5}"/>
              </a:ext>
            </a:extLst>
          </p:cNvPr>
          <p:cNvSpPr/>
          <p:nvPr/>
        </p:nvSpPr>
        <p:spPr>
          <a:xfrm>
            <a:off x="6348046" y="1948164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2" name="UWIcon" descr="preencoded.png">
            <a:extLst>
              <a:ext uri="{FF2B5EF4-FFF2-40B4-BE49-F238E27FC236}">
                <a16:creationId xmlns:a16="http://schemas.microsoft.com/office/drawing/2014/main" id="{D5CC03DF-A845-D584-5878-D45249ACC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846" y="2059364"/>
            <a:ext cx="411480" cy="411480"/>
          </a:xfrm>
          <a:prstGeom prst="rect">
            <a:avLst/>
          </a:prstGeom>
        </p:spPr>
      </p:pic>
      <p:sp>
        <p:nvSpPr>
          <p:cNvPr id="93" name="UWNameLabel">
            <a:extLst>
              <a:ext uri="{FF2B5EF4-FFF2-40B4-BE49-F238E27FC236}">
                <a16:creationId xmlns:a16="http://schemas.microsoft.com/office/drawing/2014/main" id="{AF16D297-CC4F-4387-FC71-963918EAFC41}"/>
              </a:ext>
            </a:extLst>
          </p:cNvPr>
          <p:cNvSpPr/>
          <p:nvPr/>
        </p:nvSpPr>
        <p:spPr>
          <a:xfrm>
            <a:off x="6333275" y="23913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Underwriter</a:t>
            </a:r>
          </a:p>
        </p:txBody>
      </p:sp>
      <p:sp>
        <p:nvSpPr>
          <p:cNvPr id="94" name="UWSubLabel">
            <a:extLst>
              <a:ext uri="{FF2B5EF4-FFF2-40B4-BE49-F238E27FC236}">
                <a16:creationId xmlns:a16="http://schemas.microsoft.com/office/drawing/2014/main" id="{478A1379-87C6-FFDC-710E-E49FC2F2D266}"/>
              </a:ext>
            </a:extLst>
          </p:cNvPr>
          <p:cNvSpPr/>
          <p:nvPr/>
        </p:nvSpPr>
        <p:spPr>
          <a:xfrm>
            <a:off x="6348046" y="25624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Policy Review</a:t>
            </a:r>
          </a:p>
        </p:txBody>
      </p:sp>
      <p:sp>
        <p:nvSpPr>
          <p:cNvPr id="95" name="UWConnector">
            <a:extLst>
              <a:ext uri="{FF2B5EF4-FFF2-40B4-BE49-F238E27FC236}">
                <a16:creationId xmlns:a16="http://schemas.microsoft.com/office/drawing/2014/main" id="{9A290E3E-8B55-AC19-A356-360B1545EBE8}"/>
              </a:ext>
            </a:extLst>
          </p:cNvPr>
          <p:cNvSpPr/>
          <p:nvPr/>
        </p:nvSpPr>
        <p:spPr>
          <a:xfrm>
            <a:off x="5913706" y="2059510"/>
            <a:ext cx="416052" cy="590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6" name="Shape 20">
            <a:extLst>
              <a:ext uri="{FF2B5EF4-FFF2-40B4-BE49-F238E27FC236}">
                <a16:creationId xmlns:a16="http://schemas.microsoft.com/office/drawing/2014/main" id="{94DCCB2B-4089-573F-E1DB-F8AE3345E6C2}"/>
              </a:ext>
            </a:extLst>
          </p:cNvPr>
          <p:cNvSpPr/>
          <p:nvPr/>
        </p:nvSpPr>
        <p:spPr>
          <a:xfrm rot="5400000" flipV="1">
            <a:off x="4091665" y="2923895"/>
            <a:ext cx="183433" cy="457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</a:ln>
        </p:spPr>
      </p:sp>
      <p:sp>
        <p:nvSpPr>
          <p:cNvPr id="3" name="GoldAccent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7432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</a:rPr>
              <a:t>Key Use Cases</a:t>
            </a:r>
          </a:p>
        </p:txBody>
      </p:sp>
      <p:sp>
        <p:nvSpPr>
          <p:cNvPr id="5" name="SubtitleText"/>
          <p:cNvSpPr/>
          <p:nvPr/>
        </p:nvSpPr>
        <p:spPr>
          <a:xfrm>
            <a:off x="274320" y="594360"/>
            <a:ext cx="8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C040"/>
                </a:solidFill>
                <a:latin typeface="Calibri" pitchFamily="34" charset="0"/>
              </a:rPr>
              <a:t>Six core workflows that power the DriveSure platform</a:t>
            </a:r>
          </a:p>
        </p:txBody>
      </p:sp>
      <p:sp>
        <p:nvSpPr>
          <p:cNvPr id="10" name="C1Bg"/>
          <p:cNvSpPr/>
          <p:nvPr/>
        </p:nvSpPr>
        <p:spPr>
          <a:xfrm>
            <a:off x="91440" y="1005840"/>
            <a:ext cx="2800000" cy="181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11" name="C1Strip"/>
          <p:cNvSpPr/>
          <p:nvPr/>
        </p:nvSpPr>
        <p:spPr>
          <a:xfrm>
            <a:off x="91440" y="1005840"/>
            <a:ext cx="2800000" cy="3657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</a:ln>
        </p:spPr>
      </p:sp>
      <p:sp>
        <p:nvSpPr>
          <p:cNvPr id="12" name="C1Header"/>
          <p:cNvSpPr/>
          <p:nvPr/>
        </p:nvSpPr>
        <p:spPr>
          <a:xfrm>
            <a:off x="137160" y="1005840"/>
            <a:ext cx="2700000" cy="3657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A5F5"/>
                </a:solidFill>
                <a:latin typeface="Georgia" pitchFamily="34" charset="0"/>
              </a:rPr>
              <a:t>01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Customer Applies</a:t>
            </a:r>
          </a:p>
        </p:txBody>
      </p:sp>
      <p:sp>
        <p:nvSpPr>
          <p:cNvPr id="13" name="C1Flow"/>
          <p:cNvSpPr/>
          <p:nvPr/>
        </p:nvSpPr>
        <p:spPr>
          <a:xfrm>
            <a:off x="137160" y="1394400"/>
            <a:ext cx="2700000" cy="32004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</a:rPr>
              <a:t>Flow: </a:t>
            </a:r>
            <a:r>
              <a:rPr lang="en-US" sz="800" dirty="0">
                <a:solidFill>
                  <a:srgbClr val="ADBDD8"/>
                </a:solidFill>
                <a:latin typeface="Calibri" pitchFamily="34" charset="0"/>
              </a:rPr>
              <a:t>Customer → vehicle details → upload docs → submit → risk score → underwriter review</a:t>
            </a:r>
          </a:p>
        </p:txBody>
      </p:sp>
      <p:sp>
        <p:nvSpPr>
          <p:cNvPr id="14" name="C1Desc"/>
          <p:cNvSpPr/>
          <p:nvPr/>
        </p:nvSpPr>
        <p:spPr>
          <a:xfrm>
            <a:off x="137160" y="1730000"/>
            <a:ext cx="2700000" cy="106000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Calibri" pitchFamily="34" charset="0"/>
              </a:rPr>
              <a:t>A customer applies for a vehicle insurance policy by entering vehicle details and uploading required documents. The system automatically calculates a risk score and sends the application to the underwriter for approval.</a:t>
            </a:r>
          </a:p>
        </p:txBody>
      </p:sp>
      <p:sp>
        <p:nvSpPr>
          <p:cNvPr id="20" name="C2Bg"/>
          <p:cNvSpPr/>
          <p:nvPr/>
        </p:nvSpPr>
        <p:spPr>
          <a:xfrm>
            <a:off x="3126720" y="1005840"/>
            <a:ext cx="2800000" cy="181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21" name="C2Strip"/>
          <p:cNvSpPr/>
          <p:nvPr/>
        </p:nvSpPr>
        <p:spPr>
          <a:xfrm>
            <a:off x="3126720" y="1005840"/>
            <a:ext cx="2800000" cy="3657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</a:ln>
        </p:spPr>
      </p:sp>
      <p:sp>
        <p:nvSpPr>
          <p:cNvPr id="22" name="C2Header"/>
          <p:cNvSpPr/>
          <p:nvPr/>
        </p:nvSpPr>
        <p:spPr>
          <a:xfrm>
            <a:off x="3172440" y="1005840"/>
            <a:ext cx="2700000" cy="3657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BB6A"/>
                </a:solidFill>
                <a:latin typeface="Georgia" pitchFamily="34" charset="0"/>
              </a:rPr>
              <a:t>02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Underwriter Reviews</a:t>
            </a:r>
          </a:p>
        </p:txBody>
      </p:sp>
      <p:sp>
        <p:nvSpPr>
          <p:cNvPr id="23" name="C2Flow"/>
          <p:cNvSpPr/>
          <p:nvPr/>
        </p:nvSpPr>
        <p:spPr>
          <a:xfrm>
            <a:off x="3172440" y="1394400"/>
            <a:ext cx="2700000" cy="32004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</a:rPr>
              <a:t>Flow: </a:t>
            </a:r>
            <a:r>
              <a:rPr lang="en-US" sz="800" dirty="0">
                <a:solidFill>
                  <a:srgbClr val="ADBDD8"/>
                </a:solidFill>
                <a:latin typeface="Calibri" pitchFamily="34" charset="0"/>
              </a:rPr>
              <a:t>Underwriter → view applications → evaluate risk score → approve or reject</a:t>
            </a:r>
          </a:p>
        </p:txBody>
      </p:sp>
      <p:sp>
        <p:nvSpPr>
          <p:cNvPr id="24" name="C2Desc"/>
          <p:cNvSpPr/>
          <p:nvPr/>
        </p:nvSpPr>
        <p:spPr>
          <a:xfrm>
            <a:off x="3172440" y="1730000"/>
            <a:ext cx="2700000" cy="106000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Calibri" pitchFamily="34" charset="0"/>
              </a:rPr>
              <a:t>The underwriter reviews submitted policy applications and evaluates the calculated risk score. Based on the assessment, the underwriter can approve or reject the application.</a:t>
            </a:r>
          </a:p>
        </p:txBody>
      </p:sp>
      <p:sp>
        <p:nvSpPr>
          <p:cNvPr id="30" name="C3Bg"/>
          <p:cNvSpPr/>
          <p:nvPr/>
        </p:nvSpPr>
        <p:spPr>
          <a:xfrm>
            <a:off x="6162000" y="1005840"/>
            <a:ext cx="2891160" cy="181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31" name="C3Strip"/>
          <p:cNvSpPr/>
          <p:nvPr/>
        </p:nvSpPr>
        <p:spPr>
          <a:xfrm>
            <a:off x="6162000" y="1005840"/>
            <a:ext cx="2891160" cy="3657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</a:ln>
        </p:spPr>
      </p:sp>
      <p:sp>
        <p:nvSpPr>
          <p:cNvPr id="32" name="C3Header"/>
          <p:cNvSpPr/>
          <p:nvPr/>
        </p:nvSpPr>
        <p:spPr>
          <a:xfrm>
            <a:off x="6207720" y="1005840"/>
            <a:ext cx="2800000" cy="3657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A726"/>
                </a:solidFill>
                <a:latin typeface="Georgia" pitchFamily="34" charset="0"/>
              </a:rPr>
              <a:t>03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Customer Pays Premium</a:t>
            </a:r>
          </a:p>
        </p:txBody>
      </p:sp>
      <p:sp>
        <p:nvSpPr>
          <p:cNvPr id="33" name="C3Flow"/>
          <p:cNvSpPr/>
          <p:nvPr/>
        </p:nvSpPr>
        <p:spPr>
          <a:xfrm>
            <a:off x="6207720" y="1394400"/>
            <a:ext cx="2800000" cy="32004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</a:rPr>
              <a:t>Flow: </a:t>
            </a:r>
            <a:r>
              <a:rPr lang="en-US" sz="800" dirty="0">
                <a:solidFill>
                  <a:srgbClr val="ADBDD8"/>
                </a:solidFill>
                <a:latin typeface="Calibri" pitchFamily="34" charset="0"/>
              </a:rPr>
              <a:t>Customer → view approved policy → pay premium → transaction stored → commissions calculated</a:t>
            </a:r>
          </a:p>
        </p:txBody>
      </p:sp>
      <p:sp>
        <p:nvSpPr>
          <p:cNvPr id="34" name="C3Desc"/>
          <p:cNvSpPr/>
          <p:nvPr/>
        </p:nvSpPr>
        <p:spPr>
          <a:xfrm>
            <a:off x="6207720" y="1730000"/>
            <a:ext cx="2800000" cy="106000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Calibri" pitchFamily="34" charset="0"/>
              </a:rPr>
              <a:t>Once the policy is approved, the customer proceeds to pay the insurance premium. The system records the transaction and automatically calculates commissions for the underwriter and claim officer.</a:t>
            </a:r>
          </a:p>
        </p:txBody>
      </p:sp>
      <p:sp>
        <p:nvSpPr>
          <p:cNvPr id="40" name="C4Bg"/>
          <p:cNvSpPr/>
          <p:nvPr/>
        </p:nvSpPr>
        <p:spPr>
          <a:xfrm>
            <a:off x="91440" y="2890000"/>
            <a:ext cx="2800000" cy="187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41" name="C4Strip"/>
          <p:cNvSpPr/>
          <p:nvPr/>
        </p:nvSpPr>
        <p:spPr>
          <a:xfrm>
            <a:off x="91440" y="2890000"/>
            <a:ext cx="2800000" cy="3657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</a:ln>
        </p:spPr>
      </p:sp>
      <p:sp>
        <p:nvSpPr>
          <p:cNvPr id="42" name="C4Header"/>
          <p:cNvSpPr/>
          <p:nvPr/>
        </p:nvSpPr>
        <p:spPr>
          <a:xfrm>
            <a:off x="137160" y="2890000"/>
            <a:ext cx="2700000" cy="3657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Georgia" pitchFamily="34" charset="0"/>
              </a:rPr>
              <a:t>04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Customer Submits Claim</a:t>
            </a:r>
          </a:p>
        </p:txBody>
      </p:sp>
      <p:sp>
        <p:nvSpPr>
          <p:cNvPr id="43" name="C4Flow"/>
          <p:cNvSpPr/>
          <p:nvPr/>
        </p:nvSpPr>
        <p:spPr>
          <a:xfrm>
            <a:off x="137160" y="3278560"/>
            <a:ext cx="2700000" cy="32004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</a:rPr>
              <a:t>Flow: </a:t>
            </a:r>
            <a:r>
              <a:rPr lang="en-US" sz="800" dirty="0">
                <a:solidFill>
                  <a:srgbClr val="ADBDD8"/>
                </a:solidFill>
                <a:latin typeface="Calibri" pitchFamily="34" charset="0"/>
              </a:rPr>
              <a:t>Customer → submit claim → enter details → upload evidence → claim stored → officer notified</a:t>
            </a:r>
          </a:p>
        </p:txBody>
      </p:sp>
      <p:sp>
        <p:nvSpPr>
          <p:cNvPr id="44" name="C4Desc"/>
          <p:cNvSpPr/>
          <p:nvPr/>
        </p:nvSpPr>
        <p:spPr>
          <a:xfrm>
            <a:off x="137160" y="3610000"/>
            <a:ext cx="2700000" cy="112000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Calibri" pitchFamily="34" charset="0"/>
              </a:rPr>
              <a:t>If an accident occurs, the customer can submit a claim by providing incident details and uploading supporting documents. </a:t>
            </a:r>
            <a:r>
              <a:rPr lang="en-US" sz="870" b="1" dirty="0">
                <a:solidFill>
                  <a:srgbClr val="F0C040"/>
                </a:solidFill>
                <a:latin typeface="Calibri" pitchFamily="34" charset="0"/>
              </a:rPr>
              <a:t>The system also supports third-party insurance claims, which are mandatory for vehicle owners under the Motor Vehicles Act, India.</a:t>
            </a:r>
          </a:p>
        </p:txBody>
      </p:sp>
      <p:sp>
        <p:nvSpPr>
          <p:cNvPr id="50" name="C5Bg"/>
          <p:cNvSpPr/>
          <p:nvPr/>
        </p:nvSpPr>
        <p:spPr>
          <a:xfrm>
            <a:off x="3126720" y="2890000"/>
            <a:ext cx="2800000" cy="187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51" name="C5Strip"/>
          <p:cNvSpPr/>
          <p:nvPr/>
        </p:nvSpPr>
        <p:spPr>
          <a:xfrm>
            <a:off x="3126720" y="2890000"/>
            <a:ext cx="2800000" cy="3657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</a:ln>
        </p:spPr>
      </p:sp>
      <p:sp>
        <p:nvSpPr>
          <p:cNvPr id="52" name="C5Header"/>
          <p:cNvSpPr/>
          <p:nvPr/>
        </p:nvSpPr>
        <p:spPr>
          <a:xfrm>
            <a:off x="3172440" y="2890000"/>
            <a:ext cx="2700000" cy="3657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B47BC"/>
                </a:solidFill>
                <a:latin typeface="Georgia" pitchFamily="34" charset="0"/>
              </a:rPr>
              <a:t>05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Claim Officer Processes</a:t>
            </a:r>
          </a:p>
        </p:txBody>
      </p:sp>
      <p:sp>
        <p:nvSpPr>
          <p:cNvPr id="53" name="C5Flow"/>
          <p:cNvSpPr/>
          <p:nvPr/>
        </p:nvSpPr>
        <p:spPr>
          <a:xfrm>
            <a:off x="3172440" y="3278560"/>
            <a:ext cx="2700000" cy="32004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</a:rPr>
              <a:t>Flow: </a:t>
            </a:r>
            <a:r>
              <a:rPr lang="en-US" sz="800" dirty="0">
                <a:solidFill>
                  <a:srgbClr val="ADBDD8"/>
                </a:solidFill>
                <a:latin typeface="Calibri" pitchFamily="34" charset="0"/>
              </a:rPr>
              <a:t>Claim Officer → review claim → check documents → approve or reject</a:t>
            </a:r>
          </a:p>
        </p:txBody>
      </p:sp>
      <p:sp>
        <p:nvSpPr>
          <p:cNvPr id="54" name="C5Desc"/>
          <p:cNvSpPr/>
          <p:nvPr/>
        </p:nvSpPr>
        <p:spPr>
          <a:xfrm>
            <a:off x="3172440" y="3610000"/>
            <a:ext cx="2700000" cy="112000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Calibri" pitchFamily="34" charset="0"/>
              </a:rPr>
              <a:t>The claim officer verifies the submitted claim details and supporting documents, then decides whether to approve or reject the claim based on eligibility and evidence.</a:t>
            </a:r>
          </a:p>
        </p:txBody>
      </p:sp>
      <p:sp>
        <p:nvSpPr>
          <p:cNvPr id="60" name="C6Bg"/>
          <p:cNvSpPr/>
          <p:nvPr/>
        </p:nvSpPr>
        <p:spPr>
          <a:xfrm>
            <a:off x="6162000" y="2890000"/>
            <a:ext cx="2891160" cy="1870000"/>
          </a:xfrm>
          <a:prstGeom prst="rect">
            <a:avLst/>
          </a:prstGeom>
          <a:solidFill>
            <a:srgbClr val="172B52"/>
          </a:solidFill>
          <a:ln w="6350">
            <a:solidFill>
              <a:srgbClr val="2A4070"/>
            </a:solidFill>
          </a:ln>
        </p:spPr>
      </p:sp>
      <p:sp>
        <p:nvSpPr>
          <p:cNvPr id="61" name="C6Strip"/>
          <p:cNvSpPr/>
          <p:nvPr/>
        </p:nvSpPr>
        <p:spPr>
          <a:xfrm>
            <a:off x="6162000" y="2890000"/>
            <a:ext cx="2891160" cy="3657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</a:ln>
        </p:spPr>
      </p:sp>
      <p:sp>
        <p:nvSpPr>
          <p:cNvPr id="62" name="C6Header"/>
          <p:cNvSpPr/>
          <p:nvPr/>
        </p:nvSpPr>
        <p:spPr>
          <a:xfrm>
            <a:off x="6207720" y="2890000"/>
            <a:ext cx="2800000" cy="3657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C6DA"/>
                </a:solidFill>
                <a:latin typeface="Georgia" pitchFamily="34" charset="0"/>
              </a:rPr>
              <a:t>06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Admin Manages System</a:t>
            </a:r>
          </a:p>
        </p:txBody>
      </p:sp>
      <p:sp>
        <p:nvSpPr>
          <p:cNvPr id="63" name="C6Flow"/>
          <p:cNvSpPr/>
          <p:nvPr/>
        </p:nvSpPr>
        <p:spPr>
          <a:xfrm>
            <a:off x="6207720" y="3278560"/>
            <a:ext cx="2800000" cy="32004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</a:rPr>
              <a:t>Flow: </a:t>
            </a:r>
            <a:r>
              <a:rPr lang="en-US" sz="800" dirty="0">
                <a:solidFill>
                  <a:srgbClr val="ADBDD8"/>
                </a:solidFill>
                <a:latin typeface="Calibri" pitchFamily="34" charset="0"/>
              </a:rPr>
              <a:t>Admin → create policies → manage users → monitor revenue → commission analytics</a:t>
            </a:r>
          </a:p>
        </p:txBody>
      </p:sp>
      <p:sp>
        <p:nvSpPr>
          <p:cNvPr id="64" name="C6Desc"/>
          <p:cNvSpPr/>
          <p:nvPr/>
        </p:nvSpPr>
        <p:spPr>
          <a:xfrm>
            <a:off x="6207720" y="3610000"/>
            <a:ext cx="2800000" cy="112000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Calibri" pitchFamily="34" charset="0"/>
              </a:rPr>
              <a:t>The admin manages the entire system by creating insurance policies, managing users such as underwriters and claim officers, and monitoring system revenue and commission reports.</a:t>
            </a:r>
          </a:p>
        </p:txBody>
      </p:sp>
      <p:sp>
        <p:nvSpPr>
          <p:cNvPr id="70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</p:sp>
      <p:sp>
        <p:nvSpPr>
          <p:cNvPr id="71" name="FooterText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</a:rPr>
              <a:t>DriveSure  |  Vehicle Insurance Management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Deep Dive: Customer Claim Submission Flow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978408"/>
            <a:ext cx="1298448" cy="256032"/>
          </a:xfrm>
          <a:prstGeom prst="roundRect">
            <a:avLst>
              <a:gd name="adj" fmla="val 3571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9784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via secure login portal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0280" y="1645920"/>
            <a:ext cx="210312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82296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932688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17520" y="978408"/>
            <a:ext cx="1298448" cy="256032"/>
          </a:xfrm>
          <a:prstGeom prst="roundRect">
            <a:avLst>
              <a:gd name="adj" fmla="val 3571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9784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42032" y="1417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Policy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17830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active insurance policies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16552" y="1645920"/>
            <a:ext cx="210312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82296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932688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93792" y="978408"/>
            <a:ext cx="1298448" cy="256032"/>
          </a:xfrm>
          <a:prstGeom prst="roundRect">
            <a:avLst>
              <a:gd name="adj" fmla="val 3571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9784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18304" y="1417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Claim 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17830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claim type: self, third-party – vehicle damage/ Injury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92824" y="1645920"/>
            <a:ext cx="210312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82296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94576" y="932688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70064" y="978408"/>
            <a:ext cx="1298448" cy="256032"/>
          </a:xfrm>
          <a:prstGeom prst="roundRect">
            <a:avLst>
              <a:gd name="adj" fmla="val 3571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0064" y="9784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94576" y="1417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94576" y="17830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damage photos, and other reports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7889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289864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1248" y="2944368"/>
            <a:ext cx="1298448" cy="256032"/>
          </a:xfrm>
          <a:prstGeom prst="roundRect">
            <a:avLst>
              <a:gd name="adj" fmla="val 35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29443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Claim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request sent for review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40280" y="3611880"/>
            <a:ext cx="210312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50592" y="27889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42032" y="2898648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017520" y="2944368"/>
            <a:ext cx="1298448" cy="256032"/>
          </a:xfrm>
          <a:prstGeom prst="roundRect">
            <a:avLst>
              <a:gd name="adj" fmla="val 3571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29443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Officer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42032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Review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542032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Officer validates and reviews claim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16552" y="3611880"/>
            <a:ext cx="210312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26864" y="27889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18304" y="2898648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18304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193792" y="2944368"/>
            <a:ext cx="1298448" cy="256032"/>
          </a:xfrm>
          <a:prstGeom prst="roundRect">
            <a:avLst>
              <a:gd name="adj" fmla="val 3571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93792" y="29443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Officer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18304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18304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made based on risk and evidence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592824" y="3611880"/>
            <a:ext cx="210312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03136" y="27889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894576" y="289864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94576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370064" y="2944368"/>
            <a:ext cx="1298448" cy="256032"/>
          </a:xfrm>
          <a:prstGeom prst="roundRect">
            <a:avLst>
              <a:gd name="adj" fmla="val 35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70064" y="29443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894576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Sent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894576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receives outcome notification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4320" y="4663440"/>
            <a:ext cx="164592" cy="1645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4636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03120" y="466344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31720" y="4636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Auto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931920" y="4663440"/>
            <a:ext cx="16459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60520" y="4636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Officer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DriveSure  |  Vehicle Insurance Management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Premium Calculation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transparent, and automated pricing logic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62112"/>
            <a:ext cx="4114800" cy="2212848"/>
          </a:xfrm>
          <a:prstGeom prst="rect">
            <a:avLst/>
          </a:prstGeom>
          <a:solidFill>
            <a:srgbClr val="243B6E"/>
          </a:solidFill>
          <a:ln w="6350">
            <a:solidFill>
              <a:srgbClr val="2A3F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62112"/>
            <a:ext cx="41148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18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17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Factors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29040"/>
            <a:ext cx="7315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647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1830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vehicles carry higher risk scores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2225511"/>
            <a:ext cx="7315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2578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Amount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244074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coverage → higher risk coefficient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2701702"/>
            <a:ext cx="3840480" cy="32004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6"/>
          <p:cNvSpPr/>
          <p:nvPr/>
        </p:nvSpPr>
        <p:spPr>
          <a:xfrm>
            <a:off x="365760" y="27031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Range: 1.0 (Low) → 5.0 (High)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1005840"/>
            <a:ext cx="4297680" cy="1005840"/>
          </a:xfrm>
          <a:prstGeom prst="rect">
            <a:avLst/>
          </a:prstGeom>
          <a:solidFill>
            <a:srgbClr val="243B6E"/>
          </a:solidFill>
          <a:ln w="6350">
            <a:solidFill>
              <a:srgbClr val="2A3F7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1005840"/>
            <a:ext cx="4297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Premium Formula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09160" y="13898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Premium  =  Base Premium  ×  Risk Score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0" y="2148840"/>
            <a:ext cx="4297680" cy="1234440"/>
          </a:xfrm>
          <a:prstGeom prst="rect">
            <a:avLst/>
          </a:prstGeom>
          <a:solidFill>
            <a:srgbClr val="243B6E"/>
          </a:solidFill>
          <a:ln w="6350">
            <a:solidFill>
              <a:srgbClr val="2A3F7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2148840"/>
            <a:ext cx="4297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267712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20640" y="2267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Bonus (NCB)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709160" y="2633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no claims in the previous policy year receive a 10% discount on renewal.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09160" y="3063240"/>
            <a:ext cx="4023360" cy="25603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09160" y="3063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Premium  =  (Base × Risk Score) × 0.9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274320" y="3410712"/>
            <a:ext cx="8595360" cy="1188720"/>
          </a:xfrm>
          <a:prstGeom prst="rect">
            <a:avLst/>
          </a:prstGeom>
          <a:solidFill>
            <a:srgbClr val="243B6E"/>
          </a:solidFill>
          <a:ln w="6350">
            <a:solidFill>
              <a:srgbClr val="2A3F7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11480" y="3456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Claim Payout Structure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11480" y="3794760"/>
            <a:ext cx="2011680" cy="640080"/>
          </a:xfrm>
          <a:prstGeom prst="rect">
            <a:avLst/>
          </a:prstGeom>
          <a:solidFill>
            <a:srgbClr val="1A2F5A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1148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Damage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11480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min(Garage estimated, Coverage Amount)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560320" y="3794760"/>
            <a:ext cx="2011680" cy="640080"/>
          </a:xfrm>
          <a:prstGeom prst="rect">
            <a:avLst/>
          </a:prstGeom>
          <a:solidFill>
            <a:srgbClr val="1A2F5A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56032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Injury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2560320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Fixed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4709160" y="3794760"/>
            <a:ext cx="2011680" cy="640080"/>
          </a:xfrm>
          <a:prstGeom prst="rect">
            <a:avLst/>
          </a:prstGeom>
          <a:solidFill>
            <a:srgbClr val="1A2F5A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0916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Injury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4709160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 Fixed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6858000" y="3794760"/>
            <a:ext cx="2011680" cy="640080"/>
          </a:xfrm>
          <a:prstGeom prst="rect">
            <a:avLst/>
          </a:prstGeom>
          <a:solidFill>
            <a:srgbClr val="1A2F5A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85800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858000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₹5,00,000 Fixed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DriveSure  |  Vehicle Insurance Management Platform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3652A1CE-0A50-4DBE-40B2-F679B4E7A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72" y="0"/>
            <a:ext cx="7992748" cy="582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3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 &amp;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9748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51560"/>
            <a:ext cx="457200" cy="457200"/>
          </a:xfrm>
          <a:prstGeom prst="ellipse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78992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0" y="1069848"/>
            <a:ext cx="548640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0" y="1069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Speed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38912" y="15819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1920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 workflows reduce policy issuance and claim turnaround from days to hours.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86868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86868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9272" y="1051560"/>
            <a:ext cx="457200" cy="457200"/>
          </a:xfrm>
          <a:prstGeom prst="ellipse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078992"/>
            <a:ext cx="384048" cy="3840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66360" y="1069848"/>
            <a:ext cx="5486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66360" y="1069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Ops Cost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319272" y="15819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Workload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19272" y="1920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premium calculation, claim routing, and notifications free up staff for high-value tasks.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35040" y="86868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868680"/>
            <a:ext cx="269748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99632" y="1051560"/>
            <a:ext cx="457200" cy="457200"/>
          </a:xfrm>
          <a:prstGeom prst="ellipse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078992"/>
            <a:ext cx="384048" cy="38404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046720" y="1069848"/>
            <a:ext cx="54864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046720" y="1069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Trust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199632" y="15819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Claims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199632" y="1920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track every step of their claim journey in real-time — building trust and reducing support calls.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274320" y="278892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274320" y="2788920"/>
            <a:ext cx="2697480" cy="7315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38912" y="2971800"/>
            <a:ext cx="457200" cy="457200"/>
          </a:xfrm>
          <a:prstGeom prst="ellipse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2999232"/>
            <a:ext cx="384048" cy="38404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2286000" y="2990088"/>
            <a:ext cx="548640" cy="25603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286000" y="2990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CSAT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438912" y="35021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Customer Experience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38912" y="3840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enables policy purchase, renewal, and claims without requiring agent assistance.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3154680" y="278892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154680" y="2788920"/>
            <a:ext cx="269748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319272" y="2971800"/>
            <a:ext cx="457200" cy="457200"/>
          </a:xfrm>
          <a:prstGeom prst="ellipse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2999232"/>
            <a:ext cx="384048" cy="384048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5166360" y="2990088"/>
            <a:ext cx="54864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166360" y="2990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Accuracy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3319272" y="35021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Pricing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3319272" y="3840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premium engine ensures fair, consistent, and auditable pricing for every customer.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6035040" y="278892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035040" y="278892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199632" y="2971800"/>
            <a:ext cx="457200" cy="457200"/>
          </a:xfrm>
          <a:prstGeom prst="ellipse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2999232"/>
            <a:ext cx="384048" cy="384048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8046720" y="2990088"/>
            <a:ext cx="5486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8046720" y="2990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Scale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6199632" y="35021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Platform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6199632" y="3840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Angular-based architecture supports growing user base, new policy types, and regional expansion.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DriveSure — Driving Insurance Into the Digital Future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1171</Words>
  <Application>Microsoft Office PowerPoint</Application>
  <PresentationFormat>On-screen Show (16:9)</PresentationFormat>
  <Paragraphs>165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DriveSure - Vehicle Insurance Management Platform</dc:title>
  <dc:subject>PptxGenJS Presentation</dc:subject>
  <dc:creator>DriveSure</dc:creator>
  <cp:lastModifiedBy>Anusha Kucharlapati</cp:lastModifiedBy>
  <cp:revision>5</cp:revision>
  <dcterms:created xsi:type="dcterms:W3CDTF">2026-03-11T19:11:00Z</dcterms:created>
  <dcterms:modified xsi:type="dcterms:W3CDTF">2026-03-18T09:56:59Z</dcterms:modified>
</cp:coreProperties>
</file>